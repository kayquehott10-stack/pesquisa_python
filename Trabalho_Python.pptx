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10459E-2874-474A-ADDB-0E970892DF35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8195AE-AA7A-4352-9320-7509DB1635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149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195AE-AA7A-4352-9320-7509DB1635D2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4444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090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04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897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502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518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095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50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035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853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745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759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9315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DBF2405-C577-B7E6-EEF2-E23670044E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741" y="1277763"/>
            <a:ext cx="4937004" cy="2151237"/>
          </a:xfrm>
        </p:spPr>
        <p:txBody>
          <a:bodyPr anchor="t">
            <a:normAutofit fontScale="90000"/>
          </a:bodyPr>
          <a:lstStyle/>
          <a:p>
            <a:pPr>
              <a:lnSpc>
                <a:spcPct val="90000"/>
              </a:lnSpc>
            </a:pPr>
            <a:br>
              <a:rPr lang="pt-BR" sz="3600" b="1" dirty="0">
                <a:solidFill>
                  <a:schemeClr val="accent3">
                    <a:lumMod val="50000"/>
                  </a:schemeClr>
                </a:solidFill>
                <a:effectLst/>
              </a:rPr>
            </a:br>
            <a:r>
              <a:rPr lang="pt-BR" sz="3600" b="1" dirty="0">
                <a:solidFill>
                  <a:schemeClr val="accent3">
                    <a:lumMod val="50000"/>
                  </a:schemeClr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Python — História da Linguagem de Programação</a:t>
            </a:r>
            <a:br>
              <a:rPr lang="pt-BR" sz="3600" b="1" dirty="0">
                <a:solidFill>
                  <a:schemeClr val="accent3">
                    <a:lumMod val="50000"/>
                  </a:schemeClr>
                </a:solidFill>
                <a:effectLst/>
              </a:rPr>
            </a:br>
            <a:endParaRPr lang="pt-BR" sz="36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A7BE4E5-36BB-67AB-76D6-0CA67E581C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7264" y="3982862"/>
            <a:ext cx="4172757" cy="845487"/>
          </a:xfrm>
        </p:spPr>
        <p:txBody>
          <a:bodyPr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1300" dirty="0">
                <a:latin typeface="Abadi" panose="020F0502020204030204" pitchFamily="34" charset="0"/>
              </a:rPr>
              <a:t>Trabalho feito por:</a:t>
            </a:r>
          </a:p>
          <a:p>
            <a:pPr>
              <a:lnSpc>
                <a:spcPct val="100000"/>
              </a:lnSpc>
            </a:pPr>
            <a:r>
              <a:rPr lang="pt-BR" sz="1300" dirty="0">
                <a:latin typeface="Abadi" panose="020F0502020204030204" pitchFamily="34" charset="0"/>
              </a:rPr>
              <a:t>Artur Lins, </a:t>
            </a:r>
            <a:r>
              <a:rPr lang="pt-BR" sz="1300" dirty="0" err="1">
                <a:latin typeface="Abadi" panose="020F0502020204030204" pitchFamily="34" charset="0"/>
              </a:rPr>
              <a:t>Kayque</a:t>
            </a:r>
            <a:r>
              <a:rPr lang="pt-BR" sz="1300" dirty="0">
                <a:latin typeface="Abadi" panose="020F0502020204030204" pitchFamily="34" charset="0"/>
              </a:rPr>
              <a:t> </a:t>
            </a:r>
            <a:r>
              <a:rPr lang="pt-BR" sz="1300" dirty="0" err="1">
                <a:latin typeface="Abadi" panose="020F0502020204030204" pitchFamily="34" charset="0"/>
              </a:rPr>
              <a:t>Hott</a:t>
            </a:r>
            <a:r>
              <a:rPr lang="pt-BR" sz="1300" dirty="0">
                <a:latin typeface="Abadi" panose="020F0502020204030204" pitchFamily="34" charset="0"/>
              </a:rPr>
              <a:t>, Northon Guerra e Samuel Lemos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3">
            <a:extLst>
              <a:ext uri="{FF2B5EF4-FFF2-40B4-BE49-F238E27FC236}">
                <a16:creationId xmlns:a16="http://schemas.microsoft.com/office/drawing/2014/main" id="{3CB40D7A-CCD9-DCF9-69EB-F5B8192F5C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172" r="42717"/>
          <a:stretch>
            <a:fillRect/>
          </a:stretch>
        </p:blipFill>
        <p:spPr>
          <a:xfrm>
            <a:off x="6326272" y="10"/>
            <a:ext cx="586572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290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DE34750-4B1B-96DD-45F8-75D73BCAB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8656" y="914400"/>
            <a:ext cx="6236208" cy="1307592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chemeClr val="accent3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Introdução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A34FC7-D9E5-69C3-F364-83C7A0D4F4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103" r="47647"/>
          <a:stretch>
            <a:fillRect/>
          </a:stretch>
        </p:blipFill>
        <p:spPr>
          <a:xfrm>
            <a:off x="20" y="-1"/>
            <a:ext cx="4663420" cy="685800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D4226C-5AC2-8EEC-AF36-DD5CC2003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8656" y="2221992"/>
            <a:ext cx="6236208" cy="2669127"/>
          </a:xfrm>
        </p:spPr>
        <p:txBody>
          <a:bodyPr>
            <a:normAutofit/>
          </a:bodyPr>
          <a:lstStyle/>
          <a:p>
            <a:r>
              <a:rPr lang="pt-BR" dirty="0">
                <a:latin typeface="Abadi" panose="020B0604020104020204" pitchFamily="34" charset="0"/>
              </a:rPr>
              <a:t>Python é uma linguagem de programação de alto nível, interpretada e </a:t>
            </a:r>
            <a:r>
              <a:rPr lang="pt-BR" dirty="0" err="1">
                <a:latin typeface="Abadi" panose="020B0604020104020204" pitchFamily="34" charset="0"/>
              </a:rPr>
              <a:t>multiparadigma</a:t>
            </a:r>
            <a:r>
              <a:rPr lang="pt-BR" dirty="0">
                <a:latin typeface="Abadi" panose="020B0604020104020204" pitchFamily="34" charset="0"/>
              </a:rPr>
              <a:t>, considerada atualmente uma das linguagens mais importantes e utilizadas no mundo da tecnologia. Sua popularidade cresceu rapidamente devido à simplicidade da sintaxe, facilidade de aprendizado e enorme variedade de aplicações.</a:t>
            </a:r>
          </a:p>
        </p:txBody>
      </p:sp>
    </p:spTree>
    <p:extLst>
      <p:ext uri="{BB962C8B-B14F-4D97-AF65-F5344CB8AC3E}">
        <p14:creationId xmlns:p14="http://schemas.microsoft.com/office/powerpoint/2010/main" val="3275606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C87B54-9726-FC3A-CA4D-D1662EF5C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090" y="1920855"/>
            <a:ext cx="5179812" cy="2239971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pt-BR" sz="2200" dirty="0">
                <a:latin typeface="Abadi" panose="020B0604020104020204" pitchFamily="34" charset="0"/>
              </a:rPr>
              <a:t>Python foi criada por Guido van </a:t>
            </a:r>
            <a:r>
              <a:rPr lang="pt-BR" sz="2200" dirty="0" err="1">
                <a:latin typeface="Abadi" panose="020B0604020104020204" pitchFamily="34" charset="0"/>
              </a:rPr>
              <a:t>Rossum</a:t>
            </a:r>
            <a:r>
              <a:rPr lang="pt-BR" sz="2200" dirty="0">
                <a:latin typeface="Abadi" panose="020B0604020104020204" pitchFamily="34" charset="0"/>
              </a:rPr>
              <a:t> no final da década de 1980, enquanto trabalhava no centro de pesquisas CWI, na Holanda. A primeira versão oficial da linguagem foi lançada em 1991.</a:t>
            </a:r>
            <a:br>
              <a:rPr lang="pt-BR" sz="2200" dirty="0">
                <a:latin typeface="Abadi" panose="020B0604020104020204" pitchFamily="34" charset="0"/>
              </a:rPr>
            </a:br>
            <a:br>
              <a:rPr lang="pt-BR" sz="5400" dirty="0">
                <a:latin typeface="Abadi" panose="020B0604020104020204" pitchFamily="34" charset="0"/>
              </a:rPr>
            </a:br>
            <a:br>
              <a:rPr lang="pt-BR" sz="5400" dirty="0"/>
            </a:br>
            <a:br>
              <a:rPr lang="pt-BR" sz="5400" dirty="0"/>
            </a:br>
            <a:endParaRPr lang="en-US" sz="54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B70C718-2AB6-ACB2-D4C8-B339002178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9946" r="4349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4A5F483-5403-33FD-7AA8-D9F81A4424E9}"/>
              </a:ext>
            </a:extLst>
          </p:cNvPr>
          <p:cNvSpPr txBox="1"/>
          <p:nvPr/>
        </p:nvSpPr>
        <p:spPr>
          <a:xfrm>
            <a:off x="497090" y="935626"/>
            <a:ext cx="5021529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400" dirty="0">
                <a:solidFill>
                  <a:schemeClr val="accent3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Criador da Linguagem</a:t>
            </a:r>
            <a:br>
              <a:rPr lang="pt-BR" sz="3400" dirty="0">
                <a:solidFill>
                  <a:schemeClr val="accent3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pt-BR" sz="3400" dirty="0">
              <a:solidFill>
                <a:schemeClr val="accent3">
                  <a:lumMod val="5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089411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A57B20-109D-493B-91E9-CDB4E35FE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4880503" cy="754839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chemeClr val="accent3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Origem do Nome</a:t>
            </a:r>
            <a:br>
              <a:rPr lang="pt-BR" b="1" dirty="0"/>
            </a:br>
            <a:endParaRPr lang="pt-BR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15BE95-1337-20E2-B2EF-5DA486F72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63CCD5-7C84-D2F3-1EA4-F59BC1660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913" y="2569463"/>
            <a:ext cx="6239599" cy="1652733"/>
          </a:xfrm>
        </p:spPr>
        <p:txBody>
          <a:bodyPr>
            <a:normAutofit/>
          </a:bodyPr>
          <a:lstStyle/>
          <a:p>
            <a:r>
              <a:rPr lang="pt-BR" dirty="0">
                <a:latin typeface="Abadi" panose="020B0604020104020204" pitchFamily="34" charset="0"/>
              </a:rPr>
              <a:t>O nome Python foi inspirado no grupo britânico de comédia “Monty </a:t>
            </a:r>
            <a:r>
              <a:rPr lang="pt-BR" dirty="0" err="1">
                <a:latin typeface="Abadi" panose="020B0604020104020204" pitchFamily="34" charset="0"/>
              </a:rPr>
              <a:t>Python’s</a:t>
            </a:r>
            <a:r>
              <a:rPr lang="pt-BR" dirty="0">
                <a:latin typeface="Abadi" panose="020B0604020104020204" pitchFamily="34" charset="0"/>
              </a:rPr>
              <a:t> </a:t>
            </a:r>
            <a:r>
              <a:rPr lang="pt-BR" dirty="0" err="1">
                <a:latin typeface="Abadi" panose="020B0604020104020204" pitchFamily="34" charset="0"/>
              </a:rPr>
              <a:t>Flying</a:t>
            </a:r>
            <a:r>
              <a:rPr lang="pt-BR" dirty="0">
                <a:latin typeface="Abadi" panose="020B0604020104020204" pitchFamily="34" charset="0"/>
              </a:rPr>
              <a:t> </a:t>
            </a:r>
            <a:r>
              <a:rPr lang="pt-BR" dirty="0" err="1">
                <a:latin typeface="Abadi" panose="020B0604020104020204" pitchFamily="34" charset="0"/>
              </a:rPr>
              <a:t>Circus</a:t>
            </a:r>
            <a:r>
              <a:rPr lang="pt-BR" dirty="0">
                <a:latin typeface="Abadi" panose="020B0604020104020204" pitchFamily="34" charset="0"/>
              </a:rPr>
              <a:t>”, e não na cobra </a:t>
            </a:r>
            <a:r>
              <a:rPr lang="pt-BR" dirty="0" err="1">
                <a:latin typeface="Abadi" panose="020B0604020104020204" pitchFamily="34" charset="0"/>
              </a:rPr>
              <a:t>python</a:t>
            </a:r>
            <a:r>
              <a:rPr lang="pt-BR" dirty="0">
                <a:latin typeface="Abadi" panose="020B0604020104020204" pitchFamily="34" charset="0"/>
              </a:rPr>
              <a:t>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9184F88-850D-3AA9-F433-042D12DCA1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328" r="47872"/>
          <a:stretch>
            <a:fillRect/>
          </a:stretch>
        </p:blipFill>
        <p:spPr>
          <a:xfrm>
            <a:off x="7583424" y="10"/>
            <a:ext cx="460857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000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0EB578-C970-4186-B93C-45851BBC6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929D073-108F-A028-C964-81DE60AF9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67" y="914400"/>
            <a:ext cx="6787029" cy="902125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chemeClr val="accent3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Principais Características</a:t>
            </a:r>
            <a:endParaRPr lang="pt-BR" dirty="0">
              <a:solidFill>
                <a:schemeClr val="accent3">
                  <a:lumMod val="5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F8DFD2F-E9CB-B2BD-60E5-FA9068ACFD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023" r="49568" b="1"/>
          <a:stretch>
            <a:fillRect/>
          </a:stretch>
        </p:blipFill>
        <p:spPr>
          <a:xfrm>
            <a:off x="20" y="-17929"/>
            <a:ext cx="4206220" cy="687592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DF57B02-07BB-407B-BB36-06D9C64A6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722376"/>
            <a:ext cx="647635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88E31E-CEA1-D985-E21A-1C2BBAF77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6968" y="2221992"/>
            <a:ext cx="6627924" cy="3540567"/>
          </a:xfrm>
        </p:spPr>
        <p:txBody>
          <a:bodyPr>
            <a:normAutofit/>
          </a:bodyPr>
          <a:lstStyle/>
          <a:p>
            <a:r>
              <a:rPr lang="pt-BR" dirty="0">
                <a:latin typeface="Abadi" panose="020B0604020104020204" pitchFamily="34" charset="0"/>
              </a:rPr>
              <a:t>- Linguagem simples e fácil de aprender</a:t>
            </a:r>
          </a:p>
          <a:p>
            <a:r>
              <a:rPr lang="pt-BR" dirty="0">
                <a:latin typeface="Abadi" panose="020B0604020104020204" pitchFamily="34" charset="0"/>
              </a:rPr>
              <a:t>- Sintaxe limpa e organizada</a:t>
            </a:r>
          </a:p>
          <a:p>
            <a:r>
              <a:rPr lang="pt-BR" dirty="0">
                <a:latin typeface="Abadi" panose="020B0604020104020204" pitchFamily="34" charset="0"/>
              </a:rPr>
              <a:t>- Linguagem interpretada</a:t>
            </a:r>
          </a:p>
          <a:p>
            <a:r>
              <a:rPr lang="pt-BR" dirty="0">
                <a:latin typeface="Abadi" panose="020B0604020104020204" pitchFamily="34" charset="0"/>
              </a:rPr>
              <a:t>- Multiplataforma</a:t>
            </a:r>
          </a:p>
          <a:p>
            <a:r>
              <a:rPr lang="pt-BR" dirty="0">
                <a:latin typeface="Abadi" panose="020B0604020104020204" pitchFamily="34" charset="0"/>
              </a:rPr>
              <a:t>- Suporte à programação orientada a objetos</a:t>
            </a:r>
          </a:p>
          <a:p>
            <a:r>
              <a:rPr lang="pt-BR" dirty="0">
                <a:latin typeface="Abadi" panose="020B0604020104020204" pitchFamily="34" charset="0"/>
              </a:rPr>
              <a:t>- Grande quantidade de bibliotecas prontas</a:t>
            </a:r>
            <a:br>
              <a:rPr lang="pt-BR" dirty="0"/>
            </a:br>
            <a:endParaRPr lang="pt-BR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855964-C920-48EB-8804-74291211C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6144768"/>
            <a:ext cx="64763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2909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750E89D-5FFB-7ABC-54D7-DAE3F9441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186" y="909637"/>
            <a:ext cx="4800600" cy="1307592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chemeClr val="accent3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Exemplos de Código</a:t>
            </a:r>
            <a:endParaRPr lang="pt-BR" dirty="0">
              <a:solidFill>
                <a:schemeClr val="accent3">
                  <a:lumMod val="5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36C7FDA-4C91-A332-9B91-635706161F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40" r="41985"/>
          <a:stretch>
            <a:fillRect/>
          </a:stretch>
        </p:blipFill>
        <p:spPr>
          <a:xfrm>
            <a:off x="20" y="10"/>
            <a:ext cx="6044164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723900"/>
            <a:ext cx="461007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5E8D7D-03DF-B93B-C490-51C4A230E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6185" y="2221992"/>
            <a:ext cx="5172603" cy="3739896"/>
          </a:xfrm>
        </p:spPr>
        <p:txBody>
          <a:bodyPr>
            <a:noAutofit/>
          </a:bodyPr>
          <a:lstStyle/>
          <a:p>
            <a:r>
              <a:rPr lang="pt-BR" sz="1200" dirty="0">
                <a:latin typeface="Abadi" panose="020B0604020104020204" pitchFamily="34" charset="0"/>
              </a:rPr>
              <a:t>Exemplo 1:</a:t>
            </a:r>
          </a:p>
          <a:p>
            <a:r>
              <a:rPr lang="pt-BR" sz="1200" dirty="0">
                <a:latin typeface="Abadi" panose="020B0604020104020204" pitchFamily="34" charset="0"/>
              </a:rPr>
              <a:t>print("Olá Mundo")</a:t>
            </a:r>
          </a:p>
          <a:p>
            <a:pPr marL="0" indent="0">
              <a:buNone/>
            </a:pPr>
            <a:endParaRPr lang="pt-BR" sz="1200" dirty="0">
              <a:latin typeface="Abadi" panose="020B0604020104020204" pitchFamily="34" charset="0"/>
            </a:endParaRPr>
          </a:p>
          <a:p>
            <a:r>
              <a:rPr lang="pt-BR" sz="1200" dirty="0">
                <a:latin typeface="Abadi" panose="020B0604020104020204" pitchFamily="34" charset="0"/>
              </a:rPr>
              <a:t>Exemplo 2:</a:t>
            </a:r>
          </a:p>
          <a:p>
            <a:r>
              <a:rPr lang="pt-BR" sz="1200" dirty="0">
                <a:latin typeface="Abadi" panose="020B0604020104020204" pitchFamily="34" charset="0"/>
              </a:rPr>
              <a:t>a = 10</a:t>
            </a:r>
          </a:p>
          <a:p>
            <a:r>
              <a:rPr lang="pt-BR" sz="1200" dirty="0">
                <a:latin typeface="Abadi" panose="020B0604020104020204" pitchFamily="34" charset="0"/>
              </a:rPr>
              <a:t>b = 20</a:t>
            </a:r>
          </a:p>
          <a:p>
            <a:r>
              <a:rPr lang="pt-BR" sz="1200" dirty="0">
                <a:latin typeface="Abadi" panose="020B0604020104020204" pitchFamily="34" charset="0"/>
              </a:rPr>
              <a:t>print(a + b)</a:t>
            </a:r>
          </a:p>
          <a:p>
            <a:pPr marL="0" indent="0">
              <a:buNone/>
            </a:pPr>
            <a:endParaRPr lang="pt-BR" sz="1200" dirty="0">
              <a:latin typeface="Abadi" panose="020B0604020104020204" pitchFamily="34" charset="0"/>
            </a:endParaRPr>
          </a:p>
          <a:p>
            <a:r>
              <a:rPr lang="pt-BR" sz="1200" dirty="0">
                <a:latin typeface="Abadi" panose="020B0604020104020204" pitchFamily="34" charset="0"/>
              </a:rPr>
              <a:t>Exemplo 3:</a:t>
            </a:r>
          </a:p>
          <a:p>
            <a:r>
              <a:rPr lang="pt-BR" sz="1200" dirty="0" err="1">
                <a:latin typeface="Abadi" panose="020B0604020104020204" pitchFamily="34" charset="0"/>
              </a:rPr>
              <a:t>if</a:t>
            </a:r>
            <a:r>
              <a:rPr lang="pt-BR" sz="1200" dirty="0">
                <a:latin typeface="Abadi" panose="020B0604020104020204" pitchFamily="34" charset="0"/>
              </a:rPr>
              <a:t> idade &gt;= 18:</a:t>
            </a:r>
          </a:p>
          <a:p>
            <a:r>
              <a:rPr lang="pt-BR" sz="1200" dirty="0">
                <a:latin typeface="Abadi" panose="020B0604020104020204" pitchFamily="34" charset="0"/>
              </a:rPr>
              <a:t>    print("Maior de idade")</a:t>
            </a:r>
          </a:p>
          <a:p>
            <a:br>
              <a:rPr lang="pt-BR" sz="1200" dirty="0">
                <a:latin typeface="Abadi" panose="020B0604020104020204" pitchFamily="34" charset="0"/>
              </a:rPr>
            </a:br>
            <a:endParaRPr lang="pt-BR" sz="1200" dirty="0">
              <a:latin typeface="Abadi" panose="020B060402010402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6142781"/>
            <a:ext cx="46100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477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6E93236-2088-D8FF-9438-3DC9C4E46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09637"/>
            <a:ext cx="4800600" cy="1307592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chemeClr val="accent3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Áreas de Aplicação</a:t>
            </a:r>
            <a:br>
              <a:rPr lang="pt-BR" b="1" dirty="0"/>
            </a:br>
            <a:endParaRPr lang="pt-BR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6451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10C9C5-873B-654C-BC10-A3DC912B4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2221992"/>
            <a:ext cx="4800600" cy="3205570"/>
          </a:xfrm>
        </p:spPr>
        <p:txBody>
          <a:bodyPr>
            <a:normAutofit/>
          </a:bodyPr>
          <a:lstStyle/>
          <a:p>
            <a:r>
              <a:rPr lang="pt-BR" dirty="0">
                <a:latin typeface="Abadi" panose="020B0604020104020204" pitchFamily="34" charset="0"/>
              </a:rPr>
              <a:t>- Desenvolvimento Web</a:t>
            </a:r>
          </a:p>
          <a:p>
            <a:r>
              <a:rPr lang="pt-BR" dirty="0">
                <a:latin typeface="Abadi" panose="020B0604020104020204" pitchFamily="34" charset="0"/>
              </a:rPr>
              <a:t>- Inteligência Artificial</a:t>
            </a:r>
          </a:p>
          <a:p>
            <a:r>
              <a:rPr lang="pt-BR" dirty="0">
                <a:latin typeface="Abadi" panose="020B0604020104020204" pitchFamily="34" charset="0"/>
              </a:rPr>
              <a:t>- Ciência de Dados</a:t>
            </a:r>
          </a:p>
          <a:p>
            <a:r>
              <a:rPr lang="pt-BR" dirty="0">
                <a:latin typeface="Abadi" panose="020B0604020104020204" pitchFamily="34" charset="0"/>
              </a:rPr>
              <a:t>- Automação</a:t>
            </a:r>
          </a:p>
          <a:p>
            <a:r>
              <a:rPr lang="pt-BR" dirty="0">
                <a:latin typeface="Abadi" panose="020B0604020104020204" pitchFamily="34" charset="0"/>
              </a:rPr>
              <a:t>- Segurança da Informação</a:t>
            </a:r>
          </a:p>
          <a:p>
            <a:r>
              <a:rPr lang="pt-BR" dirty="0">
                <a:latin typeface="Abadi" panose="020B0604020104020204" pitchFamily="34" charset="0"/>
              </a:rPr>
              <a:t>- Desenvolvimento de Jogos</a:t>
            </a:r>
            <a:br>
              <a:rPr lang="pt-BR" dirty="0"/>
            </a:br>
            <a:endParaRPr lang="pt-BR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464515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3ABF527-B3BC-121F-46E8-88A6EDA0B0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40" r="41985"/>
          <a:stretch>
            <a:fillRect/>
          </a:stretch>
        </p:blipFill>
        <p:spPr>
          <a:xfrm>
            <a:off x="6147816" y="10"/>
            <a:ext cx="6044184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278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5A7BD96-B764-4A3D-7A53-843930BDC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9135" y="1597018"/>
            <a:ext cx="2990457" cy="1084567"/>
          </a:xfrm>
        </p:spPr>
        <p:txBody>
          <a:bodyPr anchor="ctr">
            <a:normAutofit/>
          </a:bodyPr>
          <a:lstStyle/>
          <a:p>
            <a:r>
              <a:rPr lang="pt-BR" sz="3600" dirty="0" err="1">
                <a:solidFill>
                  <a:schemeClr val="accent3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VAntagens</a:t>
            </a:r>
            <a:endParaRPr lang="pt-BR" sz="3600" dirty="0">
              <a:solidFill>
                <a:schemeClr val="accent3">
                  <a:lumMod val="5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1A3C1E2-4535-6615-A508-EA8FBD1C9F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8" r="33733"/>
          <a:stretch>
            <a:fillRect/>
          </a:stretch>
        </p:blipFill>
        <p:spPr>
          <a:xfrm>
            <a:off x="-1" y="10"/>
            <a:ext cx="8056345" cy="685799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41170" y="1172935"/>
            <a:ext cx="2653318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41170" y="3105667"/>
            <a:ext cx="265331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496ED57-8787-FA2A-0111-5DB60F572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2509" y="3359338"/>
            <a:ext cx="2843711" cy="2862072"/>
          </a:xfrm>
        </p:spPr>
        <p:txBody>
          <a:bodyPr>
            <a:normAutofit fontScale="92500" lnSpcReduction="20000"/>
          </a:bodyPr>
          <a:lstStyle/>
          <a:p>
            <a:r>
              <a:rPr lang="pt-BR" dirty="0">
                <a:latin typeface="Abadi" panose="020B0604020104020204" pitchFamily="34" charset="0"/>
              </a:rPr>
              <a:t>- Fácil de aprender</a:t>
            </a:r>
          </a:p>
          <a:p>
            <a:r>
              <a:rPr lang="pt-BR" dirty="0">
                <a:latin typeface="Abadi" panose="020B0604020104020204" pitchFamily="34" charset="0"/>
              </a:rPr>
              <a:t>- Alta produtividade</a:t>
            </a:r>
          </a:p>
          <a:p>
            <a:r>
              <a:rPr lang="pt-BR" dirty="0">
                <a:latin typeface="Abadi" panose="020B0604020104020204" pitchFamily="34" charset="0"/>
              </a:rPr>
              <a:t>- Grande comunidade</a:t>
            </a:r>
          </a:p>
          <a:p>
            <a:r>
              <a:rPr lang="pt-BR" dirty="0">
                <a:latin typeface="Abadi" panose="020B0604020104020204" pitchFamily="34" charset="0"/>
              </a:rPr>
              <a:t>- Muitas bibliotecas disponíveis</a:t>
            </a:r>
          </a:p>
          <a:p>
            <a:r>
              <a:rPr lang="pt-BR" dirty="0">
                <a:latin typeface="Abadi" panose="020B0604020104020204" pitchFamily="34" charset="0"/>
              </a:rPr>
              <a:t>- Código organizado</a:t>
            </a:r>
          </a:p>
          <a:p>
            <a:pPr marL="0" indent="0">
              <a:buNone/>
            </a:pPr>
            <a:br>
              <a:rPr lang="pt-BR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198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90E4C3D-E25F-896C-2522-071D7766F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9741" y="1175004"/>
            <a:ext cx="4288106" cy="1307592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chemeClr val="accent3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Desvantagens</a:t>
            </a:r>
            <a:br>
              <a:rPr lang="pt-BR" b="1" dirty="0"/>
            </a:br>
            <a:endParaRPr lang="pt-BR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D16A1F7-3D78-0192-E87A-C72F32C2E3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103" r="47647"/>
          <a:stretch>
            <a:fillRect/>
          </a:stretch>
        </p:blipFill>
        <p:spPr>
          <a:xfrm>
            <a:off x="20" y="-1"/>
            <a:ext cx="4663420" cy="685800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992F9C-BF83-81D7-657D-EF5E458F6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4535" y="3136392"/>
            <a:ext cx="6236208" cy="1971545"/>
          </a:xfrm>
        </p:spPr>
        <p:txBody>
          <a:bodyPr>
            <a:normAutofit fontScale="92500" lnSpcReduction="10000"/>
          </a:bodyPr>
          <a:lstStyle/>
          <a:p>
            <a:r>
              <a:rPr lang="pt-BR" dirty="0">
                <a:latin typeface="Abadi" panose="020B0604020104020204" pitchFamily="34" charset="0"/>
              </a:rPr>
              <a:t>- Menor desempenho que linguagens compiladas</a:t>
            </a:r>
          </a:p>
          <a:p>
            <a:r>
              <a:rPr lang="pt-BR" dirty="0">
                <a:latin typeface="Abadi" panose="020B0604020104020204" pitchFamily="34" charset="0"/>
              </a:rPr>
              <a:t>- Maior consumo de memória</a:t>
            </a:r>
          </a:p>
          <a:p>
            <a:r>
              <a:rPr lang="pt-BR" dirty="0">
                <a:latin typeface="Abadi" panose="020B0604020104020204" pitchFamily="34" charset="0"/>
              </a:rPr>
              <a:t>- Menos utilizada para aplicativos mobile nativos</a:t>
            </a:r>
          </a:p>
          <a:p>
            <a:pPr marL="0" indent="0">
              <a:buNone/>
            </a:pP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940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4E58C7-CA40-E758-D3CF-BD09BA010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873253"/>
            <a:ext cx="5623069" cy="1307590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chemeClr val="accent3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Empresas que Utilizam Python</a:t>
            </a:r>
            <a:br>
              <a:rPr lang="pt-BR" b="1" dirty="0"/>
            </a:br>
            <a:endParaRPr lang="pt-BR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15BE95-1337-20E2-B2EF-5DA486F72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5A6B6D-7A1C-A4C5-CF3F-E855CA6A0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21992"/>
            <a:ext cx="6239599" cy="3941064"/>
          </a:xfrm>
        </p:spPr>
        <p:txBody>
          <a:bodyPr>
            <a:normAutofit/>
          </a:bodyPr>
          <a:lstStyle/>
          <a:p>
            <a:r>
              <a:rPr lang="pt-BR" dirty="0">
                <a:latin typeface="Abadi" panose="020B0604020104020204" pitchFamily="34" charset="0"/>
              </a:rPr>
              <a:t>- Google</a:t>
            </a:r>
          </a:p>
          <a:p>
            <a:r>
              <a:rPr lang="pt-BR" dirty="0">
                <a:latin typeface="Abadi" panose="020B0604020104020204" pitchFamily="34" charset="0"/>
              </a:rPr>
              <a:t>- Netflix</a:t>
            </a:r>
          </a:p>
          <a:p>
            <a:r>
              <a:rPr lang="pt-BR" dirty="0">
                <a:latin typeface="Abadi" panose="020B0604020104020204" pitchFamily="34" charset="0"/>
              </a:rPr>
              <a:t>- Instagram</a:t>
            </a:r>
          </a:p>
          <a:p>
            <a:r>
              <a:rPr lang="pt-BR" dirty="0">
                <a:latin typeface="Abadi" panose="020B0604020104020204" pitchFamily="34" charset="0"/>
              </a:rPr>
              <a:t>- Spotify</a:t>
            </a:r>
          </a:p>
          <a:p>
            <a:r>
              <a:rPr lang="pt-BR" dirty="0">
                <a:latin typeface="Abadi" panose="020B0604020104020204" pitchFamily="34" charset="0"/>
              </a:rPr>
              <a:t>- Dropbox</a:t>
            </a:r>
          </a:p>
          <a:p>
            <a:r>
              <a:rPr lang="pt-BR" dirty="0">
                <a:latin typeface="Abadi" panose="020B0604020104020204" pitchFamily="34" charset="0"/>
              </a:rPr>
              <a:t>- Uber</a:t>
            </a:r>
          </a:p>
          <a:p>
            <a:pPr marL="0" indent="0">
              <a:buNone/>
            </a:pPr>
            <a:br>
              <a:rPr lang="pt-BR" dirty="0">
                <a:latin typeface="Abadi" panose="020B0604020104020204" pitchFamily="34" charset="0"/>
              </a:rPr>
            </a:br>
            <a:endParaRPr lang="pt-BR" dirty="0">
              <a:latin typeface="Abadi" panose="020B0604020104020204" pitchFamily="34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715E448-8270-924C-B3D2-304731BA38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328" r="47872"/>
          <a:stretch>
            <a:fillRect/>
          </a:stretch>
        </p:blipFill>
        <p:spPr>
          <a:xfrm>
            <a:off x="7583424" y="10"/>
            <a:ext cx="460857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588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A74EE8B-990E-4AB4-AD3B-C1573AFEE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14400"/>
            <a:ext cx="3799763" cy="1473200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chemeClr val="accent3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Curiosidades</a:t>
            </a:r>
            <a:br>
              <a:rPr lang="pt-BR" sz="3600" b="1" dirty="0"/>
            </a:br>
            <a:endParaRPr lang="pt-BR" sz="36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BED76B-7D25-37A0-2E1B-DCF79E87A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387600"/>
            <a:ext cx="3799763" cy="3767328"/>
          </a:xfrm>
        </p:spPr>
        <p:txBody>
          <a:bodyPr>
            <a:normAutofit lnSpcReduction="10000"/>
          </a:bodyPr>
          <a:lstStyle/>
          <a:p>
            <a:r>
              <a:rPr lang="pt-BR" dirty="0">
                <a:latin typeface="Abadi" panose="020B0604020104020204" pitchFamily="34" charset="0"/>
                <a:cs typeface="Aharoni" panose="02010803020104030203" pitchFamily="2" charset="-79"/>
              </a:rPr>
              <a:t>- Python está entre as linguagens mais utilizadas do mundo</a:t>
            </a:r>
          </a:p>
          <a:p>
            <a:r>
              <a:rPr lang="pt-BR" dirty="0">
                <a:latin typeface="Abadi" panose="020B0604020104020204" pitchFamily="34" charset="0"/>
                <a:cs typeface="Aharoni" panose="02010803020104030203" pitchFamily="2" charset="-79"/>
              </a:rPr>
              <a:t>- É muito usada em Inteligência Artificial</a:t>
            </a:r>
          </a:p>
          <a:p>
            <a:r>
              <a:rPr lang="pt-BR" dirty="0">
                <a:latin typeface="Abadi" panose="020B0604020104020204" pitchFamily="34" charset="0"/>
                <a:cs typeface="Aharoni" panose="02010803020104030203" pitchFamily="2" charset="-79"/>
              </a:rPr>
              <a:t>- Existe o “Zen do Python”</a:t>
            </a:r>
          </a:p>
          <a:p>
            <a:r>
              <a:rPr lang="pt-BR" dirty="0">
                <a:latin typeface="Abadi" panose="020B0604020104020204" pitchFamily="34" charset="0"/>
                <a:cs typeface="Aharoni" panose="02010803020104030203" pitchFamily="2" charset="-79"/>
              </a:rPr>
              <a:t>- A NASA utiliza Python em pesquisas científicas</a:t>
            </a:r>
          </a:p>
          <a:p>
            <a:pPr marL="0" indent="0">
              <a:buNone/>
            </a:pPr>
            <a:br>
              <a:rPr lang="pt-BR" dirty="0"/>
            </a:br>
            <a:endParaRPr lang="pt-BR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1CFF37C-3CA4-5156-7169-055BBB6D0B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2588" b="-1"/>
          <a:stretch>
            <a:fillRect/>
          </a:stretch>
        </p:blipFill>
        <p:spPr>
          <a:xfrm>
            <a:off x="4981575" y="735286"/>
            <a:ext cx="6495042" cy="541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86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816E2F1-18D5-BCA5-412C-0728B1FA6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8656" y="914400"/>
            <a:ext cx="4416982" cy="791660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chemeClr val="accent3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Conclusão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371C32A-CCEE-7FF3-3231-D67B2063B8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103" r="47647"/>
          <a:stretch>
            <a:fillRect/>
          </a:stretch>
        </p:blipFill>
        <p:spPr>
          <a:xfrm>
            <a:off x="20" y="-1"/>
            <a:ext cx="4663420" cy="685800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032B37-AB1D-387A-F4E7-F0DD1A8E6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0686" y="2319754"/>
            <a:ext cx="6236208" cy="2830712"/>
          </a:xfrm>
        </p:spPr>
        <p:txBody>
          <a:bodyPr>
            <a:normAutofit/>
          </a:bodyPr>
          <a:lstStyle/>
          <a:p>
            <a:r>
              <a:rPr lang="pt-BR" dirty="0">
                <a:latin typeface="Abadi" panose="020B0604020104020204" pitchFamily="34" charset="0"/>
              </a:rPr>
              <a:t>Python revolucionou o mundo da programação ao oferecer uma linguagem simples, poderosa e versátil. Atualmente, é uma das linguagens mais importantes da computação moderna e continua crescendo no mercado tecnológico.</a:t>
            </a:r>
          </a:p>
          <a:p>
            <a:pPr marL="0" indent="0">
              <a:buNone/>
            </a:pPr>
            <a:br>
              <a:rPr lang="pt-BR" dirty="0">
                <a:latin typeface="Abadi" panose="020B0604020104020204" pitchFamily="34" charset="0"/>
              </a:rPr>
            </a:br>
            <a:endParaRPr lang="pt-BR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2671750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373</Words>
  <Application>Microsoft Office PowerPoint</Application>
  <PresentationFormat>Widescreen</PresentationFormat>
  <Paragraphs>66</Paragraphs>
  <Slides>12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9" baseType="lpstr">
      <vt:lpstr>Abadi</vt:lpstr>
      <vt:lpstr>Aharoni</vt:lpstr>
      <vt:lpstr>Aptos</vt:lpstr>
      <vt:lpstr>Arial</vt:lpstr>
      <vt:lpstr>Calisto MT</vt:lpstr>
      <vt:lpstr>Univers Condensed</vt:lpstr>
      <vt:lpstr>ChronicleVTI</vt:lpstr>
      <vt:lpstr> Python — História da Linguagem de Programação </vt:lpstr>
      <vt:lpstr>Introdução</vt:lpstr>
      <vt:lpstr>Python foi criada por Guido van Rossum no final da década de 1980, enquanto trabalhava no centro de pesquisas CWI, na Holanda. A primeira versão oficial da linguagem foi lançada em 1991.    </vt:lpstr>
      <vt:lpstr>Origem do Nome </vt:lpstr>
      <vt:lpstr>Principais Características</vt:lpstr>
      <vt:lpstr>Exemplos de Código</vt:lpstr>
      <vt:lpstr>Áreas de Aplicação </vt:lpstr>
      <vt:lpstr>VAntagens</vt:lpstr>
      <vt:lpstr>Desvantagens </vt:lpstr>
      <vt:lpstr>Empresas que Utilizam Python </vt:lpstr>
      <vt:lpstr>Curiosidades </vt:lpstr>
      <vt:lpstr>Conclusão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Northon Guerra</dc:creator>
  <cp:lastModifiedBy>Northon Guerra</cp:lastModifiedBy>
  <cp:revision>1</cp:revision>
  <dcterms:created xsi:type="dcterms:W3CDTF">2026-05-22T18:29:54Z</dcterms:created>
  <dcterms:modified xsi:type="dcterms:W3CDTF">2026-05-22T18:56:41Z</dcterms:modified>
</cp:coreProperties>
</file>